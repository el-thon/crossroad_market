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a:defRPr>
            </a:lvl1p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79A6D503-DC20-48E0-910B-8E3B7E06E97F}"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AB3698A2-3DDD-444C-BCE9-B5A0C075194A}"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0BDB4B6D-8BE7-46A1-957D-F58A130B4025}"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6EE47B21-1D41-4897-930C-7D89C2F9802D}"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a:defRPr>
            </a:lvl1pPr>
          </a:lstStyle>
          <a:p>
            <a:pPr indent="0" algn="l"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tint val="75000"/>
                </a:schemeClr>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CE9DD79D-1AD8-4C1C-B9C2-8EFA053E0F9A}"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DDD86DE8-A4AE-468E-B4CA-580366B02C73}"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399E1F50-1A08-4E9A-AE60-D715005D23E1}"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859EF643-FB14-423D-B603-194BF5DE4171}"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7"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906E197B-4F3F-4A85-A53D-B2A2B61B778A}"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50"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52"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A530A6A2-98F8-4B2A-88EC-C02D37C03D29}"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56"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58"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D" sz="1200" b="0" u="none" strike="noStrike">
                <a:solidFill>
                  <a:schemeClr val="dk1">
                    <a:tint val="75000"/>
                  </a:schemeClr>
                </a:solidFill>
                <a:effectLst/>
                <a:uFillTx/>
                <a:latin typeface="Calibri"/>
              </a:defRPr>
            </a:lvl1pPr>
          </a:lstStyle>
          <a:p>
            <a:pPr indent="0" algn="l" defTabSz="914400">
              <a:lnSpc>
                <a:spcPct val="100000"/>
              </a:lnSpc>
              <a:buNone/>
            </a:pPr>
            <a:r>
              <a:rPr lang="en-ID"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D" sz="1200" b="0" u="none" strike="noStrike">
                <a:solidFill>
                  <a:schemeClr val="dk1">
                    <a:tint val="75000"/>
                  </a:schemeClr>
                </a:solidFill>
                <a:effectLst/>
                <a:uFillTx/>
                <a:latin typeface="Calibri"/>
              </a:defRPr>
            </a:lvl1pPr>
          </a:lstStyle>
          <a:p>
            <a:pPr indent="0" algn="r" defTabSz="914400">
              <a:lnSpc>
                <a:spcPct val="100000"/>
              </a:lnSpc>
              <a:buNone/>
            </a:pPr>
            <a:fld id="{5D6A9FB9-20A5-4D9C-A236-F86FA8519A5B}" type="slidenum">
              <a:rPr lang="en-ID"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p>
            <a:pPr indent="0" algn="ctr" defTabSz="914400">
              <a:lnSpc>
                <a:spcPct val="90000"/>
              </a:lnSpc>
              <a:buNone/>
            </a:pPr>
            <a:r>
              <a:rPr lang="en-US" sz="6000" b="1" u="none" strike="noStrike">
                <a:solidFill>
                  <a:schemeClr val="dk1"/>
                </a:solidFill>
                <a:effectLst/>
                <a:uFillTx/>
                <a:latin typeface="Calibri Light"/>
              </a:rPr>
              <a:t>Crossroad Market* </a:t>
            </a:r>
            <a:r>
              <a:rPr lang="en-US" sz="6000" b="0" u="none" strike="noStrike">
                <a:solidFill>
                  <a:schemeClr val="dk1"/>
                </a:solidFill>
                <a:effectLst/>
                <a:uFillTx/>
                <a:latin typeface="Calibri Light"/>
              </a:rPr>
              <a:t>Prototype</a:t>
            </a:r>
            <a:endParaRPr lang="en-US" sz="6000" b="0" u="none" strike="noStrike">
              <a:solidFill>
                <a:schemeClr val="dk1"/>
              </a:solidFill>
              <a:effectLst/>
              <a:uFillTx/>
              <a:latin typeface="Calibri Light"/>
            </a:endParaRPr>
          </a:p>
        </p:txBody>
      </p:sp>
      <p:sp>
        <p:nvSpPr>
          <p:cNvPr id="62"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Autofit/>
          </a:bodyPr>
          <a:p>
            <a:pPr indent="0" algn="ctr" defTabSz="914400">
              <a:lnSpc>
                <a:spcPct val="90000"/>
              </a:lnSpc>
              <a:spcBef>
                <a:spcPts val="1001"/>
              </a:spcBef>
              <a:buNone/>
              <a:tabLst>
                <a:tab pos="0" algn="l"/>
              </a:tabLst>
            </a:pPr>
            <a:r>
              <a:rPr lang="en-US" sz="2400" b="1" u="none" strike="noStrike">
                <a:solidFill>
                  <a:schemeClr val="dk1"/>
                </a:solidFill>
                <a:effectLst/>
                <a:uFillTx/>
                <a:latin typeface="Calibri"/>
              </a:rPr>
              <a:t>*TBD</a:t>
            </a:r>
            <a:endParaRPr lang="en-US"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Lets make some games</a:t>
            </a:r>
            <a:endParaRPr lang="en-US" sz="4400" b="0" u="none" strike="noStrike">
              <a:solidFill>
                <a:schemeClr val="dk1"/>
              </a:solidFill>
              <a:effectLst/>
              <a:uFillTx/>
              <a:latin typeface="Calibri Light"/>
            </a:endParaRPr>
          </a:p>
        </p:txBody>
      </p:sp>
      <p:pic>
        <p:nvPicPr>
          <p:cNvPr id="64" name="Picture 2" descr="The “White Kid Pointing at Himself” Full Collection of Stock Images: :  r/TheMatpatEffect"/>
          <p:cNvPicPr/>
          <p:nvPr/>
        </p:nvPicPr>
        <p:blipFill>
          <a:blip r:embed="rId1"/>
          <a:stretch/>
        </p:blipFill>
        <p:spPr>
          <a:xfrm>
            <a:off x="4467600" y="1825560"/>
            <a:ext cx="3256920" cy="43509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Apa yang kita harus jawab di Prototype</a:t>
            </a:r>
            <a:endParaRPr lang="en-US" sz="4400" b="0" u="none" strike="noStrike">
              <a:solidFill>
                <a:schemeClr val="dk1"/>
              </a:solidFill>
              <a:effectLst/>
              <a:uFillTx/>
              <a:latin typeface="Calibri Light"/>
            </a:endParaRPr>
          </a:p>
        </p:txBody>
      </p:sp>
      <p:sp>
        <p:nvSpPr>
          <p:cNvPr id="6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1. Apakah gameplay market cukup menarik (meskipun tidak mengikut NPC/Profit-driven) </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2. Apakah pemain penasaran dengan NCP</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p:nvPr>
        </p:nvSpPr>
        <p:spPr>
          <a:xfrm>
            <a:off x="771120" y="1253160"/>
            <a:ext cx="10515240" cy="523908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Durasi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6 Hari In-Game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1 hari gameplay = 12 menit dibagi 3 session</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Pagi, siang, sore @ 4 menit per session</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NPC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2 NPC utama dan 8 NPC normal (@4 manusia, @4 Ghost and monster 2 each)</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Irene : Human Worker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Gooby the Phantom : Ghost Costumer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pic>
        <p:nvPicPr>
          <p:cNvPr id="68" name="Picture 2" descr="The image of the rabbit holding a clock that's been going around social  media is actually from Alice in Wonderland. He's the reason Alice falls  down the rabbit hole,always in a rush,"/>
          <p:cNvPicPr/>
          <p:nvPr/>
        </p:nvPicPr>
        <p:blipFill>
          <a:blip r:embed="rId1"/>
          <a:stretch/>
        </p:blipFill>
        <p:spPr>
          <a:xfrm>
            <a:off x="8024040" y="1027800"/>
            <a:ext cx="2242080" cy="2802600"/>
          </a:xfrm>
          <a:prstGeom prst="rect">
            <a:avLst/>
          </a:prstGeom>
          <a:noFill/>
          <a:ln w="0">
            <a:noFill/>
          </a:ln>
        </p:spPr>
      </p:pic>
      <p:sp>
        <p:nvSpPr>
          <p:cNvPr id="69" name="PlaceHolder 2"/>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Scope</a:t>
            </a:r>
            <a:br>
              <a:rPr sz="4400"/>
            </a:br>
            <a:endParaRPr lang="en-US" sz="4400" b="0" u="none" strike="noStrike">
              <a:solidFill>
                <a:schemeClr val="dk1"/>
              </a:solidFill>
              <a:effectLst/>
              <a:uFillTx/>
              <a:latin typeface="Calibri Light"/>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Core Loop (survivability store &amp; community building)</a:t>
            </a:r>
            <a:endParaRPr lang="en-US" sz="4400" b="0" u="none" strike="noStrike">
              <a:solidFill>
                <a:schemeClr val="dk1"/>
              </a:solidFill>
              <a:effectLst/>
              <a:uFillTx/>
              <a:latin typeface="Calibri Light"/>
            </a:endParaRPr>
          </a:p>
        </p:txBody>
      </p:sp>
      <p:sp>
        <p:nvSpPr>
          <p:cNvPr id="71"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800" b="1" u="none" strike="noStrike">
                <a:solidFill>
                  <a:schemeClr val="dk1"/>
                </a:solidFill>
                <a:effectLst/>
                <a:uFillTx/>
                <a:latin typeface="Calibri"/>
              </a:rPr>
              <a:t>Store Management :</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ID" sz="2800" b="0" u="none" strike="noStrike">
                <a:solidFill>
                  <a:schemeClr val="dk1"/>
                </a:solidFill>
                <a:effectLst/>
                <a:uFillTx/>
                <a:latin typeface="Calibri"/>
              </a:rPr>
              <a:t>Restocking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Isi ulang rak</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Barang habis </a:t>
            </a:r>
            <a:r>
              <a:rPr lang="en-US" sz="2800" b="0" u="none" strike="noStrike">
                <a:solidFill>
                  <a:schemeClr val="dk1"/>
                </a:solidFill>
                <a:effectLst/>
                <a:uFillTx/>
                <a:latin typeface="Wingdings"/>
              </a:rPr>
              <a:t></a:t>
            </a:r>
            <a:r>
              <a:rPr lang="en-US" sz="2800" b="0" u="none" strike="noStrike">
                <a:solidFill>
                  <a:schemeClr val="dk1"/>
                </a:solidFill>
                <a:effectLst/>
                <a:uFillTx/>
                <a:latin typeface="Calibri"/>
              </a:rPr>
              <a:t> Tidak bisa dijual</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US" sz="2800" b="1" u="none" strike="noStrike">
                <a:solidFill>
                  <a:schemeClr val="dk1"/>
                </a:solidFill>
                <a:effectLst/>
                <a:uFillTx/>
                <a:latin typeface="Calibri"/>
              </a:rPr>
              <a:t>Inventory ordering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Pesan barang barang untuk hari berikutnya</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Ada biaya pembelian stock</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p:nvPr>
        </p:nvSpPr>
        <p:spPr>
          <a:xfrm>
            <a:off x="838080" y="578880"/>
            <a:ext cx="10515240" cy="559764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Calibri"/>
              </a:rPr>
              <a:t>Shelf Management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US" sz="2800" b="0" u="none" strike="noStrike">
                <a:solidFill>
                  <a:schemeClr val="dk1"/>
                </a:solidFill>
                <a:effectLst/>
                <a:uFillTx/>
                <a:latin typeface="Calibri"/>
              </a:rPr>
              <a:t>Slot rak terbatas</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US" sz="2800" b="0" u="none" strike="noStrike">
                <a:solidFill>
                  <a:schemeClr val="dk1"/>
                </a:solidFill>
                <a:effectLst/>
                <a:uFillTx/>
                <a:latin typeface="Calibri"/>
              </a:rPr>
              <a:t>Tidak semua produk bisa dipajang</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ID" sz="2800" b="1" u="none" strike="noStrike">
                <a:solidFill>
                  <a:schemeClr val="dk1"/>
                </a:solidFill>
                <a:effectLst/>
                <a:uFillTx/>
                <a:latin typeface="Calibri"/>
              </a:rPr>
              <a:t>Checkout</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Melayani pelanggan di kasir; scan barcode; memberikan kembalian</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ID" sz="2800" b="1" u="none" strike="noStrike">
                <a:solidFill>
                  <a:schemeClr val="dk1"/>
                </a:solidFill>
                <a:effectLst/>
                <a:uFillTx/>
                <a:latin typeface="Calibri"/>
              </a:rPr>
              <a:t>Store Expansion (1 ruang ekspansi untuk prototype)</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Rak baru</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Kategori Baru</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Meningkatkan kapasitas</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p:nvPr>
        </p:nvSpPr>
        <p:spPr>
          <a:xfrm>
            <a:off x="838080" y="729720"/>
            <a:ext cx="10515240" cy="544680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800" b="1" u="none" strike="noStrike">
                <a:solidFill>
                  <a:schemeClr val="dk1"/>
                </a:solidFill>
                <a:effectLst/>
                <a:uFillTx/>
                <a:latin typeface="Calibri"/>
              </a:rPr>
              <a:t>Economy system</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ID" sz="2800" b="0" u="none" strike="noStrike">
                <a:solidFill>
                  <a:schemeClr val="dk1"/>
                </a:solidFill>
                <a:effectLst/>
                <a:uFillTx/>
                <a:latin typeface="Calibri"/>
              </a:rPr>
              <a:t>Daily Revenue </a:t>
            </a:r>
            <a:r>
              <a:rPr lang="en-US" sz="2800" b="0" u="none" strike="noStrike">
                <a:solidFill>
                  <a:schemeClr val="dk1"/>
                </a:solidFill>
                <a:effectLst/>
                <a:uFillTx/>
                <a:latin typeface="Calibri"/>
              </a:rPr>
              <a: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Uang dari hasil penjualan</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Product cost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Harus membeli stock daily (untuk barang yang terjual hari itu)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ID" sz="2800" b="0" u="none" strike="noStrike">
                <a:solidFill>
                  <a:schemeClr val="dk1"/>
                </a:solidFill>
                <a:effectLst/>
                <a:uFillTx/>
                <a:latin typeface="Calibri"/>
              </a:rPr>
              <a:t>Net Profit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Profit = Sales-Stock cost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 </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p:nvPr>
        </p:nvSpPr>
        <p:spPr>
          <a:xfrm>
            <a:off x="838080" y="637560"/>
            <a:ext cx="10515240" cy="5538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Calibri"/>
              </a:rPr>
              <a:t>Daily Tax/Store Fee</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Dibayar setiap hari</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Calibri"/>
              </a:rPr>
              <a:t>Tujuan :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Memberi tekanan ekonomi</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Menjadi target minimum harian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Player memiliki objective utama lain di game (jika player tidak mengejar story atau tidak tertarik pada NPC)</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1" u="none" strike="noStrike">
                <a:solidFill>
                  <a:schemeClr val="dk1"/>
                </a:solidFill>
                <a:effectLst/>
                <a:uFillTx/>
                <a:latin typeface="Calibri"/>
              </a:rPr>
              <a:t>TIDAK</a:t>
            </a:r>
            <a:r>
              <a:rPr lang="en-ID" sz="2800" b="0" u="none" strike="noStrike">
                <a:solidFill>
                  <a:schemeClr val="dk1"/>
                </a:solidFill>
                <a:effectLst/>
                <a:uFillTx/>
                <a:latin typeface="Calibri"/>
              </a:rPr>
              <a:t> semua Pemain akan tertarik pada semua NPC, Sebagian pemain hanya akan tertarik pada Sebagian NPC tertentu saja.</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p:nvPr>
        </p:nvSpPr>
        <p:spPr>
          <a:xfrm>
            <a:off x="838080" y="687960"/>
            <a:ext cx="10515240" cy="548856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Tujuan utama harus tetap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Player membentuk community melalui market sebagai melting pot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Player harus memiliki dedikasi untuk tertarik pada semua/Sebagian besar NPC</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Tujuan Player untuk TIDAK tertarik pada NPC hanyalah didasarkan pada:</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Rerun purposes</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What if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Dan bukan NPC terlalu shallow, menjalankan toko lebih asik daripada berinteraksi dengan NPC</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Picture 2"/>
          <p:cNvPicPr/>
          <p:nvPr/>
        </p:nvPicPr>
        <p:blipFill>
          <a:blip r:embed="rId1"/>
          <a:stretch/>
        </p:blipFill>
        <p:spPr>
          <a:xfrm>
            <a:off x="804240" y="465120"/>
            <a:ext cx="4462920" cy="2963520"/>
          </a:xfrm>
          <a:prstGeom prst="rect">
            <a:avLst/>
          </a:prstGeom>
          <a:noFill/>
          <a:ln w="0">
            <a:noFill/>
          </a:ln>
        </p:spPr>
      </p:pic>
      <p:pic>
        <p:nvPicPr>
          <p:cNvPr id="77" name="Picture 4" descr="Undertale | 8-4 | GameStop"/>
          <p:cNvPicPr/>
          <p:nvPr/>
        </p:nvPicPr>
        <p:blipFill>
          <a:blip r:embed="rId2"/>
          <a:stretch/>
        </p:blipFill>
        <p:spPr>
          <a:xfrm>
            <a:off x="5516640" y="465120"/>
            <a:ext cx="5215680" cy="27572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Content Placeholder 5"/>
          <p:cNvPicPr/>
          <p:nvPr/>
        </p:nvPicPr>
        <p:blipFill>
          <a:blip r:embed="rId1"/>
          <a:stretch/>
        </p:blipFill>
        <p:spPr>
          <a:xfrm>
            <a:off x="376560" y="374400"/>
            <a:ext cx="5801400" cy="4350960"/>
          </a:xfrm>
          <a:prstGeom prst="rect">
            <a:avLst/>
          </a:prstGeom>
          <a:noFill/>
          <a:ln w="0">
            <a:noFill/>
          </a:ln>
        </p:spPr>
      </p:pic>
      <p:pic>
        <p:nvPicPr>
          <p:cNvPr id="79" name="Picture 10"/>
          <p:cNvPicPr/>
          <p:nvPr/>
        </p:nvPicPr>
        <p:blipFill>
          <a:blip r:embed="rId2"/>
          <a:stretch/>
        </p:blipFill>
        <p:spPr>
          <a:xfrm>
            <a:off x="6419520" y="374400"/>
            <a:ext cx="4989240" cy="37418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p:nvPr>
        </p:nvSpPr>
        <p:spPr>
          <a:xfrm>
            <a:off x="838080" y="478080"/>
            <a:ext cx="10515240" cy="569844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Late Taxes</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Hari Pertama : warning</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Hari Kedua : Penalty Fee</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Hari ketiga  : Store force to close by Valey’s Head</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Calibri"/>
              </a:rPr>
              <a:t>Brainstorm idea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Calibri"/>
              </a:rPr>
              <a:t>Hari ke 6 toko akan ditutup, jika interaksi kita bagus dengan Gooby dan Irene, mereka akan menawarkan bantuan untuk membuka toko baru. (HANYA DI PROTOTYPE)</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Calibri"/>
              </a:rPr>
              <a:t>Di full game kelanjutannya akan berlangsung saat kita memulai toko kecil baru itu.</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p:nvPr>
        </p:nvSpPr>
        <p:spPr>
          <a:xfrm>
            <a:off x="838080" y="746640"/>
            <a:ext cx="10515240" cy="542988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Demand system</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NPC memiliki kebutuhan masing-masing</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1" u="none" strike="noStrike">
                <a:solidFill>
                  <a:schemeClr val="dk1"/>
                </a:solidFill>
                <a:effectLst/>
                <a:uFillTx/>
                <a:latin typeface="Calibri"/>
              </a:rPr>
              <a:t>Irene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Bandage</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Painkiller</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Work Gloves</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1" u="none" strike="noStrike">
                <a:solidFill>
                  <a:schemeClr val="dk1"/>
                </a:solidFill>
                <a:effectLst/>
                <a:uFillTx/>
                <a:latin typeface="Calibri"/>
              </a:rPr>
              <a:t>Gooby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Phantom Ice Cream</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ID" sz="2800" b="0" u="none" strike="noStrike">
                <a:solidFill>
                  <a:schemeClr val="dk1"/>
                </a:solidFill>
                <a:effectLst/>
                <a:uFillTx/>
                <a:latin typeface="Calibri"/>
              </a:rPr>
              <a:t>Spirit Water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IF…</a:t>
            </a:r>
            <a:endParaRPr lang="en-US" sz="4400" b="0" u="none" strike="noStrike">
              <a:solidFill>
                <a:schemeClr val="dk1"/>
              </a:solidFill>
              <a:effectLst/>
              <a:uFillTx/>
              <a:latin typeface="Calibri Light"/>
            </a:endParaRPr>
          </a:p>
        </p:txBody>
      </p:sp>
      <p:sp>
        <p:nvSpPr>
          <p:cNvPr id="83" name="PlaceHolder 2"/>
          <p:cNvSpPr>
            <a:spLocks noGrp="1"/>
          </p:cNvSpPr>
          <p:nvPr>
            <p:ph/>
          </p:nvPr>
        </p:nvSpPr>
        <p:spPr>
          <a:xfrm>
            <a:off x="838080" y="1384200"/>
            <a:ext cx="10515240" cy="478404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Stock tersedia=costumer puas= satisfactions level up</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Stock habis dan tidak diisi berhari-hari = costumer kecewa ringan</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pic>
        <p:nvPicPr>
          <p:cNvPr id="84" name="Picture 3"/>
          <p:cNvPicPr/>
          <p:nvPr/>
        </p:nvPicPr>
        <p:blipFill>
          <a:blip r:embed="rId1"/>
          <a:stretch/>
        </p:blipFill>
        <p:spPr>
          <a:xfrm>
            <a:off x="1030680" y="1819080"/>
            <a:ext cx="3067200" cy="1780560"/>
          </a:xfrm>
          <a:prstGeom prst="rect">
            <a:avLst/>
          </a:prstGeom>
          <a:noFill/>
          <a:ln w="0">
            <a:noFill/>
          </a:ln>
        </p:spPr>
      </p:pic>
      <p:pic>
        <p:nvPicPr>
          <p:cNvPr id="85" name="Picture 4"/>
          <p:cNvPicPr/>
          <p:nvPr/>
        </p:nvPicPr>
        <p:blipFill>
          <a:blip r:embed="rId2"/>
          <a:stretch/>
        </p:blipFill>
        <p:spPr>
          <a:xfrm>
            <a:off x="1030680" y="4359240"/>
            <a:ext cx="2976120" cy="22284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Special Request</a:t>
            </a:r>
            <a:endParaRPr lang="en-US" sz="4400" b="0" u="none" strike="noStrike">
              <a:solidFill>
                <a:schemeClr val="dk1"/>
              </a:solidFill>
              <a:effectLst/>
              <a:uFillTx/>
              <a:latin typeface="Calibri Light"/>
            </a:endParaRPr>
          </a:p>
        </p:txBody>
      </p:sp>
      <p:sp>
        <p:nvSpPr>
          <p:cNvPr id="87" name="PlaceHolder 2"/>
          <p:cNvSpPr>
            <a:spLocks noGrp="1"/>
          </p:cNvSpPr>
          <p:nvPr>
            <p:ph/>
          </p:nvPr>
        </p:nvSpPr>
        <p:spPr>
          <a:xfrm>
            <a:off x="838080" y="198504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Jika stock habis, buka notebook/journalmu dan catat barang yang di request atau yang perlu restock</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ID" sz="2800" b="0" u="none" strike="noStrike">
                <a:solidFill>
                  <a:schemeClr val="dk1"/>
                </a:solidFill>
                <a:effectLst/>
                <a:uFillTx/>
                <a:latin typeface="Calibri"/>
              </a:rPr>
              <a:t>Kadang ada special request contoh untuk Irene : bawa new work gloves baru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Opsi jawaban:</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ID" sz="2800" b="0" u="none" strike="noStrike">
                <a:solidFill>
                  <a:schemeClr val="dk1"/>
                </a:solidFill>
                <a:effectLst/>
                <a:uFillTx/>
                <a:latin typeface="Calibri"/>
              </a:rPr>
              <a:t>Ya</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tabLst>
                <a:tab pos="0" algn="l"/>
              </a:tabLst>
            </a:pPr>
            <a:r>
              <a:rPr lang="en-ID" sz="2800" b="0" u="none" strike="noStrike">
                <a:solidFill>
                  <a:schemeClr val="dk1"/>
                </a:solidFill>
                <a:effectLst/>
                <a:uFillTx/>
                <a:latin typeface="Calibri"/>
              </a:rPr>
              <a:t>tidak</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Relationship and social</a:t>
            </a:r>
            <a:endParaRPr lang="en-US" sz="4400" b="0" u="none" strike="noStrike">
              <a:solidFill>
                <a:schemeClr val="dk1"/>
              </a:solidFill>
              <a:effectLst/>
              <a:uFillTx/>
              <a:latin typeface="Calibri Light"/>
            </a:endParaRPr>
          </a:p>
        </p:txBody>
      </p:sp>
      <p:sp>
        <p:nvSpPr>
          <p:cNvPr id="8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Trust Bar* :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Dapat ditingkatkan melalui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Interaksi (percakapan singkat), observasi kebiasaan NPC, klik item dan yang bisa kita interaksi dan bertanya.</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Memenuhi permintaan (Request barang)</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tabLst>
                <a:tab pos="0" algn="l"/>
              </a:tabLst>
            </a:pPr>
            <a:r>
              <a:rPr lang="en-US" sz="2800" b="0" u="none" strike="noStrike">
                <a:solidFill>
                  <a:schemeClr val="dk1"/>
                </a:solidFill>
                <a:effectLst/>
                <a:uFillTx/>
                <a:latin typeface="Calibri"/>
              </a:rPr>
              <a:t>Membantu NPC (give for free/jika direquest atau tidak)</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Yang kita achieved dari trust bar</a:t>
            </a:r>
            <a:endParaRPr lang="en-US" sz="4400" b="0" u="none" strike="noStrike">
              <a:solidFill>
                <a:schemeClr val="dk1"/>
              </a:solidFill>
              <a:effectLst/>
              <a:uFillTx/>
              <a:latin typeface="Calibri Light"/>
            </a:endParaRPr>
          </a:p>
        </p:txBody>
      </p:sp>
      <p:sp>
        <p:nvSpPr>
          <p:cNvPr id="91"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Dialog baru (mengenal NPC lebih dalam)</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Event baru (misal dari petani kita dapat supply buah segar yang lebih berkualitas dengan harga yang lebih murah, kita dapat unique give dari costumer yang bisa kita pakai untuk menghias toko</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ID" sz="2800" b="0" u="none" strike="noStrike">
                <a:solidFill>
                  <a:schemeClr val="dk1"/>
                </a:solidFill>
                <a:effectLst/>
                <a:uFillTx/>
                <a:latin typeface="Calibri"/>
              </a:rPr>
              <a:t>Advanced Quest (kita bisa explore rumah NPC dan membantu mereka dengan special quest, kita akan mendapat full support dari mereka, dan tahu siapa mereka sepenuhnya, cerita hidup dll.)</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Time System</a:t>
            </a:r>
            <a:endParaRPr lang="en-US" sz="4400" b="0" u="none" strike="noStrike">
              <a:solidFill>
                <a:schemeClr val="dk1"/>
              </a:solidFill>
              <a:effectLst/>
              <a:uFillTx/>
              <a:latin typeface="Calibri Light"/>
            </a:endParaRPr>
          </a:p>
        </p:txBody>
      </p:sp>
      <p:sp>
        <p:nvSpPr>
          <p:cNvPr id="93"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1 Hari In-Game = 12 menit IRL</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Pagi, Siang, Malam</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Waktu adalah currency</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Restock, Order, Ngobrol(interaksi), Quest</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Personal Story System</a:t>
            </a:r>
            <a:endParaRPr lang="en-US" sz="4400" b="0" u="none" strike="noStrike">
              <a:solidFill>
                <a:schemeClr val="dk1"/>
              </a:solidFill>
              <a:effectLst/>
              <a:uFillTx/>
              <a:latin typeface="Calibri Light"/>
            </a:endParaRPr>
          </a:p>
        </p:txBody>
      </p:sp>
      <p:sp>
        <p:nvSpPr>
          <p:cNvPr id="9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NPC memiliki Social bar/Trust bar yang jika penuh akan membuka advance quest.</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Costumer</a:t>
            </a:r>
            <a:r>
              <a:rPr lang="en-US" sz="2800" b="0" u="none" strike="noStrike">
                <a:solidFill>
                  <a:schemeClr val="dk1"/>
                </a:solidFill>
                <a:effectLst/>
                <a:uFillTx/>
                <a:latin typeface="Wingdings"/>
              </a:rPr>
              <a:t></a:t>
            </a:r>
            <a:r>
              <a:rPr lang="en-US" sz="2800" b="0" u="none" strike="noStrike">
                <a:solidFill>
                  <a:schemeClr val="dk1"/>
                </a:solidFill>
                <a:effectLst/>
                <a:uFillTx/>
                <a:latin typeface="Calibri"/>
              </a:rPr>
              <a:t>Regular</a:t>
            </a:r>
            <a:r>
              <a:rPr lang="en-US" sz="2800" b="0" u="none" strike="noStrike">
                <a:solidFill>
                  <a:schemeClr val="dk1"/>
                </a:solidFill>
                <a:effectLst/>
                <a:uFillTx/>
                <a:latin typeface="Wingdings"/>
              </a:rPr>
              <a:t></a:t>
            </a:r>
            <a:r>
              <a:rPr lang="en-US" sz="2800" b="0" u="none" strike="noStrike">
                <a:solidFill>
                  <a:schemeClr val="dk1"/>
                </a:solidFill>
                <a:effectLst/>
                <a:uFillTx/>
                <a:latin typeface="Calibri"/>
              </a:rPr>
              <a:t>Friend</a:t>
            </a: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Advanced Quest</a:t>
            </a:r>
            <a:endParaRPr lang="en-US" sz="4400" b="0" u="none" strike="noStrike">
              <a:solidFill>
                <a:schemeClr val="dk1"/>
              </a:solidFill>
              <a:effectLst/>
              <a:uFillTx/>
              <a:latin typeface="Calibri Light"/>
            </a:endParaRPr>
          </a:p>
        </p:txBody>
      </p:sp>
      <p:sp>
        <p:nvSpPr>
          <p:cNvPr id="97"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Contoh : Irene akan meminta kita membantunya membangun rumah anjing dan kucing peliharaannya</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Goob akan meminta kita membantunya memahat batu Nisan baru dikuburannya</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Setiap akhir advance quest kita akan mendapat special gift dari para NPC yang kita bantu</a:t>
            </a: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Community Progression</a:t>
            </a:r>
            <a:endParaRPr lang="en-US" sz="4400" b="0" u="none" strike="noStrike">
              <a:solidFill>
                <a:schemeClr val="dk1"/>
              </a:solidFill>
              <a:effectLst/>
              <a:uFillTx/>
              <a:latin typeface="Calibri Light"/>
            </a:endParaRPr>
          </a:p>
        </p:txBody>
      </p:sp>
      <p:sp>
        <p:nvSpPr>
          <p:cNvPr id="9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Semakin kita terpercaya di valey, kita akan melihat hantu, manusia, dan monster datang diwaktu yang sama dan saling berinteraksi satu sama lainnya.</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Dalam konsep waktu kita hanya melihat manusia datang pagi dan siang, sore ke malam akan dipenuhi oleh monster dan hantu, namun Ketika komunitas sudah diperbaiki, kita bisa melihat hantu datang pagi hari, manusia membantu vampire datang ke toko di siang hari dengan mengunakan payung, manusia tidak takut keluar di malam hari</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838080" y="302040"/>
            <a:ext cx="10515240" cy="587448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Contoh benefit lain dari trust bar adalah special quest, contoh kita membutuhkan bantuan hantu untuk menembus tembok ke toko nenek yang disita dan membantu kita melocate barang yang perlu kita ambil (example heist mission)</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Calibri Light"/>
              </a:rPr>
              <a:t>Prototype Scenario and Timeline</a:t>
            </a:r>
            <a:endParaRPr lang="en-US" sz="4400" b="0" u="none" strike="noStrike">
              <a:solidFill>
                <a:schemeClr val="dk1"/>
              </a:solidFill>
              <a:effectLst/>
              <a:uFillTx/>
              <a:latin typeface="Calibri Light"/>
            </a:endParaRPr>
          </a:p>
        </p:txBody>
      </p:sp>
      <p:sp>
        <p:nvSpPr>
          <p:cNvPr id="102"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NPC Irene :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Occupations : Greenhouse Worker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Personality : Pendiam, Lembut, Rajin, Tidak suka merepotkan orang lain, sering memendam masalah sendiri.</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Sering membeli : Bandage, Painkiller, Energy Drink, Work Gloves.</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Visual Clues : Tangan yang sering diperban, sarung tangan kerja (Gardening Gloves), noda tanah di pakaian, terlilat lelah saat menjelang sore</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p:nvPr>
        </p:nvSpPr>
        <p:spPr>
          <a:xfrm>
            <a:off x="838080" y="469800"/>
            <a:ext cx="10515240" cy="570672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Gooby The Phantom</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Occupations : Ghost Costumer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Personalities : Ceria, Aneh, Pelupa, Nostalgis</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Sering membeli : Phantom Ice Cream, Spirit water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Content Placeholder 4"/>
          <p:cNvPicPr/>
          <p:nvPr/>
        </p:nvPicPr>
        <p:blipFill>
          <a:blip r:embed="rId1"/>
          <a:stretch/>
        </p:blipFill>
        <p:spPr>
          <a:xfrm>
            <a:off x="3402000" y="789120"/>
            <a:ext cx="5387760" cy="538776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741960"/>
          </a:xfrm>
          <a:prstGeom prst="rect">
            <a:avLst/>
          </a:prstGeom>
          <a:noFill/>
          <a:ln w="0">
            <a:noFill/>
          </a:ln>
        </p:spPr>
        <p:txBody>
          <a:bodyPr lIns="91440" tIns="45720" rIns="91440" bIns="45720" anchor="ctr">
            <a:noAutofit/>
          </a:bodyPr>
          <a:p>
            <a:pPr indent="0" algn="l" defTabSz="914400">
              <a:lnSpc>
                <a:spcPct val="90000"/>
              </a:lnSpc>
              <a:buNone/>
            </a:pPr>
            <a:r>
              <a:rPr lang="en-US" sz="4400" b="1" u="none" strike="noStrike">
                <a:solidFill>
                  <a:schemeClr val="dk1"/>
                </a:solidFill>
                <a:effectLst/>
                <a:uFillTx/>
                <a:latin typeface="Calibri Light"/>
              </a:rPr>
              <a:t>Hari  1 Start</a:t>
            </a:r>
            <a:endParaRPr lang="en-US" sz="4400" b="0" u="none" strike="noStrike">
              <a:solidFill>
                <a:schemeClr val="dk1"/>
              </a:solidFill>
              <a:effectLst/>
              <a:uFillTx/>
              <a:latin typeface="Calibri Light"/>
            </a:endParaRPr>
          </a:p>
        </p:txBody>
      </p:sp>
      <p:sp>
        <p:nvSpPr>
          <p:cNvPr id="106" name="PlaceHolder 2"/>
          <p:cNvSpPr>
            <a:spLocks noGrp="1"/>
          </p:cNvSpPr>
          <p:nvPr>
            <p:ph/>
          </p:nvPr>
        </p:nvSpPr>
        <p:spPr>
          <a:xfrm>
            <a:off x="838080" y="1199520"/>
            <a:ext cx="10515240" cy="497700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Tujuan : Memperkenalkan toko dan gameplay dasar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Gameplay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Player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Membuka took, restock bread, water, bandage painkiller, barang aneh (Phantom Ice Cream)</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Irene datang : membeli bandage, painkiller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Dialog : “Thanks”</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Pergi</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NPC human lain datang : buy different item, short convo about new owner of the store, then left</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p:nvPr>
        </p:nvSpPr>
        <p:spPr>
          <a:xfrm>
            <a:off x="838080" y="385920"/>
            <a:ext cx="10515240" cy="579060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Gooby datang : suasana took tiba tiba sepi, sore hari</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Dialog : boo</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Membeli : Phantom Ice Cream</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Pergi</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Akhir hari pertama</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2800" b="0" u="none" strike="noStrike">
                <a:solidFill>
                  <a:schemeClr val="dk1"/>
                </a:solidFill>
                <a:effectLst/>
                <a:uFillTx/>
                <a:latin typeface="Calibri"/>
              </a:rPr>
              <a:t>Pendapatan dihitung, board report, pemain membayar tax, small restock</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1" u="none" strike="noStrike">
                <a:solidFill>
                  <a:schemeClr val="dk1"/>
                </a:solidFill>
                <a:effectLst/>
                <a:uFillTx/>
                <a:latin typeface="Calibri Light"/>
              </a:rPr>
              <a:t>Hari 2 Patterns</a:t>
            </a:r>
            <a:endParaRPr lang="en-US" sz="4400" b="0" u="none" strike="noStrike">
              <a:solidFill>
                <a:schemeClr val="dk1"/>
              </a:solidFill>
              <a:effectLst/>
              <a:uFillTx/>
              <a:latin typeface="Calibri Light"/>
            </a:endParaRPr>
          </a:p>
        </p:txBody>
      </p:sp>
      <p:sp>
        <p:nvSpPr>
          <p:cNvPr id="10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Irene Datang lagi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Membeli : Bandage, Painkiller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Dialog : nice and early, beautiful day</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Left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Gooby : phantom Ice Cream</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Looking at old picture at the store</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p:nvPr>
        </p:nvSpPr>
        <p:spPr>
          <a:xfrm>
            <a:off x="838080" y="553680"/>
            <a:ext cx="10515240" cy="562284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Gameplay baru </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Limited Shelf Space</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Rak hanya memiliki 6 Slot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Pemain menerima product baru : Energy Drink, namun rak penuh, pemain harus memilih satu produk untuk dihapus, dan menambah produk baru</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842400"/>
          </a:xfrm>
          <a:prstGeom prst="rect">
            <a:avLst/>
          </a:prstGeom>
          <a:noFill/>
          <a:ln w="0">
            <a:noFill/>
          </a:ln>
        </p:spPr>
        <p:txBody>
          <a:bodyPr lIns="91440" tIns="45720" rIns="91440" bIns="45720" anchor="ctr">
            <a:noAutofit/>
          </a:bodyPr>
          <a:p>
            <a:pPr indent="0" algn="l" defTabSz="914400">
              <a:lnSpc>
                <a:spcPct val="90000"/>
              </a:lnSpc>
              <a:buNone/>
            </a:pPr>
            <a:r>
              <a:rPr lang="en-US" sz="4400" b="1" u="none" strike="noStrike">
                <a:solidFill>
                  <a:schemeClr val="dk1"/>
                </a:solidFill>
                <a:effectLst/>
                <a:uFillTx/>
                <a:latin typeface="Calibri Light"/>
              </a:rPr>
              <a:t>Hari ke 3 Special Quest</a:t>
            </a:r>
            <a:endParaRPr lang="en-US" sz="4400" b="0" u="none" strike="noStrike">
              <a:solidFill>
                <a:schemeClr val="dk1"/>
              </a:solidFill>
              <a:effectLst/>
              <a:uFillTx/>
              <a:latin typeface="Calibri Light"/>
            </a:endParaRPr>
          </a:p>
        </p:txBody>
      </p:sp>
      <p:sp>
        <p:nvSpPr>
          <p:cNvPr id="112" name="PlaceHolder 2"/>
          <p:cNvSpPr>
            <a:spLocks noGrp="1"/>
          </p:cNvSpPr>
          <p:nvPr>
            <p:ph/>
          </p:nvPr>
        </p:nvSpPr>
        <p:spPr>
          <a:xfrm>
            <a:off x="838080" y="1300320"/>
            <a:ext cx="10515240" cy="487620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Irene Request : Kalau bisa bawa stok Work Gloves baru besok</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Pilihan : Order Gloves/Ignore</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Gooby Request : Punya sesuatu yang berkilau?</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Pilihan : Cari Produk baru/Ignore</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Gameplay baru : Product Demand = Pelanggan memiliki kebutuhan unik, memenuhi kebutuhan : Trust Naik, Sales Naik</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Mengabaikan kebutuhan : Tidak ada hukuman besar, kehilangan kesempatan</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632880"/>
          </a:xfrm>
          <a:prstGeom prst="rect">
            <a:avLst/>
          </a:prstGeom>
          <a:noFill/>
          <a:ln w="0">
            <a:noFill/>
          </a:ln>
        </p:spPr>
        <p:txBody>
          <a:bodyPr lIns="91440" tIns="45720" rIns="91440" bIns="45720" anchor="ctr">
            <a:normAutofit fontScale="92500" lnSpcReduction="9999"/>
          </a:bodyPr>
          <a:p>
            <a:pPr indent="0" algn="l" defTabSz="914400">
              <a:lnSpc>
                <a:spcPct val="90000"/>
              </a:lnSpc>
              <a:buNone/>
            </a:pPr>
            <a:r>
              <a:rPr lang="en-US" sz="4400" b="1" u="none" strike="noStrike">
                <a:solidFill>
                  <a:schemeClr val="dk1"/>
                </a:solidFill>
                <a:effectLst/>
                <a:uFillTx/>
                <a:latin typeface="Calibri Light"/>
              </a:rPr>
              <a:t>Hari ke 4 First Truth </a:t>
            </a:r>
            <a:endParaRPr lang="en-US" sz="4400" b="0" u="none" strike="noStrike">
              <a:solidFill>
                <a:schemeClr val="dk1"/>
              </a:solidFill>
              <a:effectLst/>
              <a:uFillTx/>
              <a:latin typeface="Calibri Light"/>
            </a:endParaRPr>
          </a:p>
        </p:txBody>
      </p:sp>
      <p:sp>
        <p:nvSpPr>
          <p:cNvPr id="114" name="PlaceHolder 2"/>
          <p:cNvSpPr>
            <a:spLocks noGrp="1"/>
          </p:cNvSpPr>
          <p:nvPr>
            <p:ph/>
          </p:nvPr>
        </p:nvSpPr>
        <p:spPr>
          <a:xfrm>
            <a:off x="838080" y="1157760"/>
            <a:ext cx="10515240" cy="501876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Jika request dipenuhi</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Irene : trust meningkat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Dialog : Aku bekerja di rumah kaca desa, belakangan ini banyak tanaman yang harus dirawat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Irene membeli : work gloves, Energy drink</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Gooby: trust meningkat</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Dialog : aku dulu sering datang ke tempat ini</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Gooby membeli spirit water</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Calibri"/>
              </a:rPr>
              <a:t>Daily tax from 50 G increase to 75G</a:t>
            </a:r>
            <a:endParaRPr lang="en-US"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5240" cy="448200"/>
          </a:xfrm>
          <a:prstGeom prst="rect">
            <a:avLst/>
          </a:prstGeom>
          <a:noFill/>
          <a:ln w="0">
            <a:noFill/>
          </a:ln>
        </p:spPr>
        <p:txBody>
          <a:bodyPr lIns="91440" tIns="45720" rIns="91440" bIns="45720" anchor="ctr">
            <a:normAutofit fontScale="70000" lnSpcReduction="19999"/>
          </a:bodyPr>
          <a:p>
            <a:pPr indent="0" algn="l" defTabSz="914400">
              <a:lnSpc>
                <a:spcPct val="90000"/>
              </a:lnSpc>
              <a:buNone/>
            </a:pPr>
            <a:r>
              <a:rPr lang="en-US" sz="4400" b="1" u="none" strike="noStrike">
                <a:solidFill>
                  <a:schemeClr val="dk1"/>
                </a:solidFill>
                <a:effectLst/>
                <a:uFillTx/>
                <a:latin typeface="Calibri Light"/>
              </a:rPr>
              <a:t>Hari ke 5 Advanced Event</a:t>
            </a:r>
            <a:endParaRPr lang="en-US" sz="4400" b="0" u="none" strike="noStrike">
              <a:solidFill>
                <a:schemeClr val="dk1"/>
              </a:solidFill>
              <a:effectLst/>
              <a:uFillTx/>
              <a:latin typeface="Calibri Light"/>
            </a:endParaRPr>
          </a:p>
        </p:txBody>
      </p:sp>
      <p:sp>
        <p:nvSpPr>
          <p:cNvPr id="116" name="PlaceHolder 2"/>
          <p:cNvSpPr>
            <a:spLocks noGrp="1"/>
          </p:cNvSpPr>
          <p:nvPr>
            <p:ph/>
          </p:nvPr>
        </p:nvSpPr>
        <p:spPr>
          <a:xfrm>
            <a:off x="838080" y="973080"/>
            <a:ext cx="10515240" cy="520344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Irene Event : Irene datang terlambat, terlihat lebih lelah dari biasanya</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Setelah toko tutup : bisa bantu aku memindahkan beberapa pot tanaman?</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Pilihan : Stay Open( Profit/trust)</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Help irene : Profit,Trust, Story Progress</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If Help : player mengunjungi area greenhouse kecil</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Melihat : tanaman sehat, pot rusak, satu sudut ruangan terawat lebih bagus</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Saat ditanya : Yang ini berbeda, Irene menjawab “Ini bunga favorit Ibuku” dan langsung mengganti topik (hook cerita)</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Gooby Event :</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Gooby berkata : Aku lupa menaruh sesuatu di took ini</a:t>
            </a:r>
            <a:endParaRPr lang="en-US" sz="16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Player membantu mencari benda tersebut, gameplay simple : cari object di took. Jika berhasil trust meningkat</a:t>
            </a:r>
            <a:endParaRPr lang="en-US" sz="16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1" u="none" strike="noStrike">
                <a:solidFill>
                  <a:schemeClr val="dk1"/>
                </a:solidFill>
                <a:effectLst/>
                <a:uFillTx/>
                <a:latin typeface="Calibri Light"/>
              </a:rPr>
              <a:t>Hari ke 6 Shut Down</a:t>
            </a:r>
            <a:endParaRPr lang="en-US" sz="4400" b="0" u="none" strike="noStrike">
              <a:solidFill>
                <a:schemeClr val="dk1"/>
              </a:solidFill>
              <a:effectLst/>
              <a:uFillTx/>
              <a:latin typeface="Calibri Light"/>
            </a:endParaRPr>
          </a:p>
        </p:txBody>
      </p:sp>
      <p:sp>
        <p:nvSpPr>
          <p:cNvPr id="11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1400" b="0" u="none" strike="noStrike">
                <a:solidFill>
                  <a:schemeClr val="dk1"/>
                </a:solidFill>
                <a:effectLst/>
                <a:uFillTx/>
                <a:latin typeface="Calibri"/>
              </a:rPr>
              <a:t>Pemain melihat ke depan took pagi hari, took sudah tertutup, tulisan papan didepan dengan surat took ditutup valey’s Head</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400" b="0" u="none" strike="noStrike">
                <a:solidFill>
                  <a:schemeClr val="dk1"/>
                </a:solidFill>
                <a:effectLst/>
                <a:uFillTx/>
                <a:latin typeface="Calibri"/>
              </a:rPr>
              <a:t>Pemain tidak bisa masuk</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400" b="0" u="none" strike="noStrike">
                <a:solidFill>
                  <a:schemeClr val="dk1"/>
                </a:solidFill>
                <a:effectLst/>
                <a:uFillTx/>
                <a:latin typeface="Calibri"/>
              </a:rPr>
              <a:t>Dialog: “….” </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US" sz="1400" b="0" u="none" strike="noStrike">
                <a:solidFill>
                  <a:schemeClr val="dk1"/>
                </a:solidFill>
                <a:effectLst/>
                <a:uFillTx/>
                <a:latin typeface="Calibri"/>
              </a:rPr>
              <a:t>Pemain membaca surat </a:t>
            </a:r>
            <a:r>
              <a:rPr lang="en-ID" sz="1400" b="0" u="none" strike="noStrike">
                <a:solidFill>
                  <a:schemeClr val="dk1"/>
                </a:solidFill>
                <a:effectLst/>
                <a:uFillTx/>
                <a:latin typeface="Calibri"/>
              </a:rPr>
              <a:t>Penutupan</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1400" b="0" u="none" strike="noStrike">
                <a:solidFill>
                  <a:schemeClr val="dk1"/>
                </a:solidFill>
                <a:effectLst/>
                <a:uFillTx/>
                <a:latin typeface="Calibri"/>
              </a:rPr>
              <a:t>Irene datang jika trust cukup tinggi. “Aku dengar kabarnya pagi tadi”, “Maaf” </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1400" b="0" u="none" strike="noStrike">
                <a:solidFill>
                  <a:schemeClr val="dk1"/>
                </a:solidFill>
                <a:effectLst/>
                <a:uFillTx/>
                <a:latin typeface="Calibri"/>
              </a:rPr>
              <a:t>Gooby datang : “Tempat ini” “sudah lama sekali berdiri” “boo” </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1400" b="0" u="none" strike="noStrike">
                <a:solidFill>
                  <a:schemeClr val="dk1"/>
                </a:solidFill>
                <a:effectLst/>
                <a:uFillTx/>
                <a:latin typeface="Calibri"/>
              </a:rPr>
              <a:t>Setelah membaca lebih lanjut, pemain mengetahui bahwa toko akan dilelang dalam waktu 3 bulan, jika tidak ada pembeli juga maka bangunan akan dihancurkan.</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1400" b="0" u="none" strike="noStrike">
                <a:solidFill>
                  <a:schemeClr val="dk1"/>
                </a:solidFill>
                <a:effectLst/>
                <a:uFillTx/>
                <a:latin typeface="Calibri"/>
              </a:rPr>
              <a:t>Irene menawarkan tempat kosong dipinggir desa, namun tempatnya berhantu, gooby menawarkan untuk meminta hantu disana keluar secara baik-baik</a:t>
            </a:r>
            <a:endParaRPr lang="en-US" sz="1400" b="0" u="none" strike="noStrike">
              <a:solidFill>
                <a:schemeClr val="dk1"/>
              </a:solidFill>
              <a:effectLst/>
              <a:uFillTx/>
              <a:latin typeface="Calibri"/>
            </a:endParaRPr>
          </a:p>
          <a:p>
            <a:pPr indent="0" algn="l" defTabSz="914400">
              <a:lnSpc>
                <a:spcPct val="90000"/>
              </a:lnSpc>
              <a:spcBef>
                <a:spcPts val="1001"/>
              </a:spcBef>
              <a:buNone/>
              <a:tabLst>
                <a:tab pos="0" algn="l"/>
              </a:tabLst>
            </a:pPr>
            <a:r>
              <a:rPr lang="en-ID" sz="1400" b="0" u="none" strike="noStrike">
                <a:solidFill>
                  <a:schemeClr val="dk1"/>
                </a:solidFill>
                <a:effectLst/>
                <a:uFillTx/>
                <a:latin typeface="Calibri"/>
              </a:rPr>
              <a:t>Final scene: mereka bekerja dan membenahkan bangunan kecil itu (gudang tua) sore after late convo sunset fade to black</a:t>
            </a:r>
            <a:endParaRPr lang="en-US" sz="1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1" u="none" strike="noStrike">
                <a:solidFill>
                  <a:schemeClr val="dk1"/>
                </a:solidFill>
                <a:effectLst/>
                <a:uFillTx/>
                <a:latin typeface="Calibri Light"/>
              </a:rPr>
              <a:t>Jika trust level rendah hari ke 6</a:t>
            </a:r>
            <a:endParaRPr lang="en-US" sz="4400" b="0" u="none" strike="noStrike">
              <a:solidFill>
                <a:schemeClr val="dk1"/>
              </a:solidFill>
              <a:effectLst/>
              <a:uFillTx/>
              <a:latin typeface="Calibri Light"/>
            </a:endParaRPr>
          </a:p>
        </p:txBody>
      </p:sp>
      <p:sp>
        <p:nvSpPr>
          <p:cNvPr id="120"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Irene tidak datang</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Gooby tidak datang, namun gooby akan meninggalkan surat: kalau mau mencoba lagi ada gudang tua dipinggir kota:</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Gooby dan Irene tidak membantu membersihkan dan membangun gudang dan hanya pemain sendiri yang bekerja</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Ending sore hari player berdiri sendiri sunset lokasi yang sama.</a:t>
            </a: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Jika salah satu yang rendah, maka Irene atau Gooby akan meyakinkan satu sama lain untuk membantu kita.</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1" u="none" strike="noStrike">
                <a:solidFill>
                  <a:schemeClr val="dk1"/>
                </a:solidFill>
                <a:effectLst/>
                <a:uFillTx/>
                <a:latin typeface="Calibri Light"/>
              </a:rPr>
              <a:t>Goal : Prototype success IF..</a:t>
            </a:r>
            <a:endParaRPr lang="en-US" sz="4400" b="0" u="none" strike="noStrike">
              <a:solidFill>
                <a:schemeClr val="dk1"/>
              </a:solidFill>
              <a:effectLst/>
              <a:uFillTx/>
              <a:latin typeface="Calibri Light"/>
            </a:endParaRPr>
          </a:p>
        </p:txBody>
      </p:sp>
      <p:sp>
        <p:nvSpPr>
          <p:cNvPr id="122"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Market Side Feedback from play tester:</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US" sz="2800" b="0" u="none" strike="noStrike">
                <a:solidFill>
                  <a:schemeClr val="dk1"/>
                </a:solidFill>
                <a:effectLst/>
                <a:uFillTx/>
                <a:latin typeface="Calibri"/>
              </a:rPr>
              <a:t>Suka mengatur produk yang dijual</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US" sz="2800" b="0" u="none" strike="noStrike">
                <a:solidFill>
                  <a:schemeClr val="dk1"/>
                </a:solidFill>
                <a:effectLst/>
                <a:uFillTx/>
                <a:latin typeface="Calibri"/>
              </a:rPr>
              <a:t>Memikirkan stock dan pajak</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US" sz="2800" b="0" u="none" strike="noStrike">
                <a:solidFill>
                  <a:schemeClr val="dk1"/>
                </a:solidFill>
                <a:effectLst/>
                <a:uFillTx/>
                <a:latin typeface="Calibri"/>
              </a:rPr>
              <a:t>Expand toko</a:t>
            </a:r>
            <a:endParaRPr lang="en-US" sz="2800" b="0" u="none" strike="noStrike">
              <a:solidFill>
                <a:schemeClr val="dk1"/>
              </a:solidFill>
              <a:effectLst/>
              <a:uFillTx/>
              <a:latin typeface="Calibri"/>
            </a:endParaRPr>
          </a:p>
          <a:p>
            <a:pPr indent="0" algn="l" defTabSz="914400">
              <a:lnSpc>
                <a:spcPct val="90000"/>
              </a:lnSpc>
              <a:spcBef>
                <a:spcPts val="1001"/>
              </a:spcBef>
              <a:buNone/>
            </a:pPr>
            <a:endParaRPr lang="en-US" sz="2800" b="0" u="none" strike="noStrike">
              <a:solidFill>
                <a:schemeClr val="dk1"/>
              </a:solidFill>
              <a:effectLst/>
              <a:uFillTx/>
              <a:latin typeface="Calibri"/>
            </a:endParaRPr>
          </a:p>
          <a:p>
            <a:pPr marL="228600" indent="-228600" algn="l" defTabSz="914400">
              <a:lnSpc>
                <a:spcPct val="90000"/>
              </a:lnSpc>
              <a:spcBef>
                <a:spcPts val="1001"/>
              </a:spcBef>
              <a:buClr>
                <a:srgbClr val="000000"/>
              </a:buClr>
              <a:buFont typeface="Arial"/>
              <a:buChar char="•"/>
            </a:pPr>
            <a:r>
              <a:rPr lang="en-ID" sz="2800" b="0" u="none" strike="noStrike">
                <a:solidFill>
                  <a:schemeClr val="dk1"/>
                </a:solidFill>
                <a:effectLst/>
                <a:uFillTx/>
                <a:latin typeface="Calibri"/>
              </a:rPr>
              <a:t>Story Side Feedback :</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ID" sz="2800" b="0" u="none" strike="noStrike">
                <a:solidFill>
                  <a:schemeClr val="dk1"/>
                </a:solidFill>
                <a:effectLst/>
                <a:uFillTx/>
                <a:latin typeface="Calibri"/>
              </a:rPr>
              <a:t>Kenapa Irene selalu membeli perban</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ID" sz="2800" b="0" u="none" strike="noStrike">
                <a:solidFill>
                  <a:schemeClr val="dk1"/>
                </a:solidFill>
                <a:effectLst/>
                <a:uFillTx/>
                <a:latin typeface="Calibri"/>
              </a:rPr>
              <a:t>Siapa Gooby sebelum dia menjadi hantu</a:t>
            </a:r>
            <a:endParaRPr lang="en-US" sz="2800" b="0" u="none" strike="noStrike">
              <a:solidFill>
                <a:schemeClr val="dk1"/>
              </a:solidFill>
              <a:effectLst/>
              <a:uFillTx/>
              <a:latin typeface="Calibri"/>
            </a:endParaRPr>
          </a:p>
          <a:p>
            <a:pPr marL="514440" indent="-514440" algn="l" defTabSz="914400">
              <a:lnSpc>
                <a:spcPct val="90000"/>
              </a:lnSpc>
              <a:spcBef>
                <a:spcPts val="1001"/>
              </a:spcBef>
              <a:buClr>
                <a:srgbClr val="000000"/>
              </a:buClr>
              <a:buFont typeface="Calibri Light"/>
              <a:buAutoNum type="alphaLcParenR"/>
            </a:pPr>
            <a:r>
              <a:rPr lang="en-ID" sz="2800" b="0" u="none" strike="noStrike">
                <a:solidFill>
                  <a:schemeClr val="dk1"/>
                </a:solidFill>
                <a:effectLst/>
                <a:uFillTx/>
                <a:latin typeface="Calibri"/>
              </a:rPr>
              <a:t>Apa yang terjadi pada toko selanjutnya</a:t>
            </a:r>
            <a:endParaRPr lang="en-US"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275</TotalTime>
  <Application>LibreOffice/26.2.4.2$Linux_X86_64 LibreOffice_project/620$Build-2</Application>
  <AppVersion>15.0000</AppVersion>
  <Words>1559</Words>
  <Paragraphs>232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2026-06-21T02:53:20Z</dcterms:created>
  <dc:creator>Elfador Gabriel Simbolon</dc:creator>
  <dc:description/>
  <dc:language>en-US</dc:language>
  <cp:lastModifiedBy/>
  <dcterms:modified xsi:type="dcterms:W3CDTF">2026-07-02T14:05:25Z</dcterms:modified>
  <cp:revision>238</cp:revision>
  <dc:subject/>
  <dc:title>Crossroad Market Prototype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35</vt:i4>
  </property>
</Properties>
</file>